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5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285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CF8FD-3A52-632E-07C2-87718AD9E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92A6E-ADE7-F443-9DA5-35A8F684E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3DD5B-B28E-3A8C-C230-856BA2A6F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EA637-C89F-39D1-A21D-FE57FFF63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92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0D17-09B3-42C9-4ED4-E43A67D0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837CF-EC26-E27D-B16A-629737C27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00EAA-B387-EC8F-2CCC-DB6184B42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5705B-AE7F-BE0A-B56A-7AF6DCDAD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90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i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777240" cy="1133856"/>
          </a:xfrm>
          <a:prstGeom prst="rect">
            <a:avLst/>
          </a:prstGeom>
        </p:spPr>
      </p:pic>
      <p:pic>
        <p:nvPicPr>
          <p:cNvPr id="5" name="Image 1" descr="es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640080"/>
            <a:ext cx="1188720" cy="9326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594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1E3A"/>
                </a:solidFill>
              </a:rPr>
              <a:t>Instituto Politécnico Nacional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1463040" y="1097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2222"/>
                </a:solidFill>
              </a:rPr>
              <a:t>Escuela Superior de Cómputo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</a:rPr>
              <a:t>Práctica 2: Modelo Entidad-Relación Extendido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1E3A"/>
                </a:solidFill>
              </a:rPr>
              <a:t>Ejercicio 7. Exposición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017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</a:rPr>
              <a:t>Materia: Bases de Datos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</a:rPr>
              <a:t>Grupo: 3CV4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</a:rPr>
              <a:t>Profesor: Gabriel Hurtado Avilés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</a:rPr>
              <a:t>Fecha de entrega: 3/10/2026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</a:rPr>
              <a:t>Alumnos: Villanueva Morales José Luis y Cortés Rios Hazel Alexis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 Problema que resuelve y datos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Bases de Datos · Práctica 2 · Ejercicio 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Problema: </a:t>
            </a:r>
            <a:r>
              <a:rPr lang="en-US" sz="1500" dirty="0">
                <a:solidFill>
                  <a:srgbClr val="222222"/>
                </a:solidFill>
              </a:rPr>
              <a:t>México está sobre cinco placas tectónicas y cerca del 70 % del territorio tiene riesgo sísmico. Los datos del SSN son técnicos y difíciles de analizar.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Solución: </a:t>
            </a:r>
            <a:r>
              <a:rPr lang="en-US" sz="1500" dirty="0">
                <a:solidFill>
                  <a:srgbClr val="222222"/>
                </a:solidFill>
              </a:rPr>
              <a:t>un sistema web que convierte los datos sísmicos en consultas y mapas accesibles.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Datos: </a:t>
            </a:r>
            <a:r>
              <a:rPr lang="en-US" sz="1500" dirty="0">
                <a:solidFill>
                  <a:srgbClr val="222222"/>
                </a:solidFill>
              </a:rPr>
              <a:t>catálogo del SSN (más de 300 000 sismos desde 1900), Censo de Población y Vivienda 2020 y Censos Económicos del INEGI, todos en CSV.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Preparación: </a:t>
            </a:r>
            <a:r>
              <a:rPr lang="en-US" sz="1500" dirty="0">
                <a:solidFill>
                  <a:srgbClr val="222222"/>
                </a:solidFill>
              </a:rPr>
              <a:t>un programa en Python elimina registros inválidos (campos vacíos, coordenadas inconsistentes) y genera un script SQL que se carga en PostgreSQL.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Demostración del proyecto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Bases de Datos · Práctica 2 · Ejercicio 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Arranque: </a:t>
            </a:r>
            <a:r>
              <a:rPr lang="en-US" sz="1500" dirty="0">
                <a:solidFill>
                  <a:srgbClr val="222222"/>
                </a:solidFill>
              </a:rPr>
              <a:t>levantar PostgreSQL y el servidor web (Apache y PHP) con Docker Compose.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Consulta 1: </a:t>
            </a:r>
            <a:r>
              <a:rPr lang="en-US" sz="1500" dirty="0">
                <a:solidFill>
                  <a:srgbClr val="222222"/>
                </a:solidFill>
              </a:rPr>
              <a:t>filtrar sismos por periodo, magnitud y profundidad.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Consulta 2: </a:t>
            </a:r>
            <a:r>
              <a:rPr lang="en-US" sz="1500" dirty="0">
                <a:solidFill>
                  <a:srgbClr val="222222"/>
                </a:solidFill>
              </a:rPr>
              <a:t>ver en el mapa (OpenStreetMap) los sismos de un estado y año, y las localidades cercanas con población de 50 000 o más.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Consulta 3: </a:t>
            </a:r>
            <a:r>
              <a:rPr lang="en-US" sz="1500" dirty="0">
                <a:solidFill>
                  <a:srgbClr val="222222"/>
                </a:solidFill>
              </a:rPr>
              <a:t>consultar población y actividad económica de las zonas afectadas.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Formato: </a:t>
            </a:r>
            <a:r>
              <a:rPr lang="en-US" sz="1500" dirty="0">
                <a:solidFill>
                  <a:srgbClr val="222222"/>
                </a:solidFill>
              </a:rPr>
              <a:t>en vivo o grabada, funcionando en nuestro equipo.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 Modelo EER y esquema publicado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Bases de Datos · Práctica 2 · Ejercicio 7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6466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Esquema publicado (estrella)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Concepto en el modelo EER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dim_sismos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Entidad SISMO: magnitud, profundidad, coordenadas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dim_tiempo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Fecha y hora del sismo (año, mes, día, trimestre)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dim_zonas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Entidad ENTIDAD_FEDERATIVA: población total, femenina y masculina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dim_economia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Atributos económicos de la misma entidad federativa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fact_impacto_sismos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Relación SISMO afecta ENTIDAD_FEDERATIVA con población afectada, impacto económico y riesgo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Propuestas de mejora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Bases de Datos · Práctica 2 · Ejercicio 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Impacto por municipio: </a:t>
            </a:r>
            <a:r>
              <a:rPr lang="en-US" sz="1500" dirty="0">
                <a:solidFill>
                  <a:srgbClr val="222222"/>
                </a:solidFill>
              </a:rPr>
              <a:t>hoy se calcula por entidad completa, lo que sesga la población afectada.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Placa tectónica: </a:t>
            </a:r>
            <a:r>
              <a:rPr lang="en-US" sz="1500" dirty="0">
                <a:solidFill>
                  <a:srgbClr val="222222"/>
                </a:solidFill>
              </a:rPr>
              <a:t>clasificar cada sismo por placa o zona sismogénica, premisa del artículo que el modelo no representa.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Réplicas: </a:t>
            </a:r>
            <a:r>
              <a:rPr lang="en-US" sz="1500" dirty="0">
                <a:solidFill>
                  <a:srgbClr val="222222"/>
                </a:solidFill>
              </a:rPr>
              <a:t>relacionar sismo principal con sus réplicas para estudiar secuencias.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Normalización: </a:t>
            </a:r>
            <a:r>
              <a:rPr lang="en-US" sz="1500" dirty="0">
                <a:solidFill>
                  <a:srgbClr val="222222"/>
                </a:solidFill>
              </a:rPr>
              <a:t>unir dim_zonas y dim_economia (duplican la entidad) y declarar llave primaria en la tabla de hechos.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0E908-09AA-4BFE-BF3A-19163F05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79E208-862A-C13D-8A7B-7F2EECC5FED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3BA7CC-1711-DFC3-571F-A0A19F15265D}"/>
              </a:ext>
            </a:extLst>
          </p:cNvPr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Propuestas de mejora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62F036-543A-F7BF-1757-2B1F4C1A79F6}"/>
              </a:ext>
            </a:extLst>
          </p:cNvPr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Bases de Datos · Práctica 2 · Ejercicio 7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D6D07E-100D-D073-527F-4CCAB0F71D26}"/>
              </a:ext>
            </a:extLst>
          </p:cNvPr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MX" b="1"/>
              <a:t>Necesidad</a:t>
            </a:r>
          </a:p>
          <a:p>
            <a:r>
              <a:rPr lang="es-MX"/>
              <a:t>El sistema permite analizar eventos sísmicos registrados, pero podría complementarse con información relacionada con alertas sísmicas.</a:t>
            </a:r>
          </a:p>
          <a:p>
            <a:r>
              <a:rPr lang="es-MX" b="1"/>
              <a:t>Propuesta</a:t>
            </a:r>
          </a:p>
          <a:p>
            <a:r>
              <a:rPr lang="es-MX"/>
              <a:t>Agregar información proveniente de plataformas oficiales de alerta sísmica.</a:t>
            </a:r>
          </a:p>
          <a:p>
            <a:r>
              <a:rPr lang="es-MX"/>
              <a:t>Cuando exista una alerta relacionada con un evento registrado, el sistema podría mostrar:</a:t>
            </a:r>
          </a:p>
          <a:p>
            <a:pPr lvl="0"/>
            <a:r>
              <a:rPr lang="es-MX"/>
              <a:t>Fecha y hora de la alerta</a:t>
            </a:r>
          </a:p>
          <a:p>
            <a:pPr lvl="0"/>
            <a:r>
              <a:rPr lang="es-MX"/>
              <a:t>Región afectada</a:t>
            </a:r>
          </a:p>
          <a:p>
            <a:pPr lvl="0"/>
            <a:r>
              <a:rPr lang="es-MX"/>
              <a:t>Nivel o tipo de alerta</a:t>
            </a:r>
          </a:p>
          <a:p>
            <a:pPr lvl="0"/>
            <a:r>
              <a:rPr lang="es-MX"/>
              <a:t>Fuente</a:t>
            </a:r>
          </a:p>
          <a:p>
            <a:pPr lvl="0"/>
            <a:r>
              <a:rPr lang="es-MX"/>
              <a:t>Sismo asociado</a:t>
            </a:r>
          </a:p>
        </p:txBody>
      </p:sp>
    </p:spTree>
    <p:extLst>
      <p:ext uri="{BB962C8B-B14F-4D97-AF65-F5344CB8AC3E}">
        <p14:creationId xmlns:p14="http://schemas.microsoft.com/office/powerpoint/2010/main" val="48879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9B5C-0E7B-912D-710C-3498F363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B1D014-27C4-60EE-13C8-89B581448C5A}"/>
              </a:ext>
            </a:extLst>
          </p:cNvPr>
          <p:cNvSpPr txBox="1"/>
          <p:nvPr/>
        </p:nvSpPr>
        <p:spPr>
          <a:xfrm>
            <a:off x="294289" y="483475"/>
            <a:ext cx="91860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/>
              <a:t>Cambios al modelo</a:t>
            </a:r>
          </a:p>
          <a:p>
            <a:r>
              <a:rPr lang="es-MX"/>
              <a:t>Agregar conceptualmente la entidad:</a:t>
            </a:r>
          </a:p>
          <a:p>
            <a:r>
              <a:rPr lang="es-MX"/>
              <a:t>ALERTA_SISMICA</a:t>
            </a:r>
          </a:p>
          <a:p>
            <a:r>
              <a:rPr lang="es-MX"/>
              <a:t>Atributos:</a:t>
            </a:r>
          </a:p>
          <a:p>
            <a:pPr lvl="0"/>
            <a:r>
              <a:rPr lang="es-MX"/>
              <a:t>id_alerta</a:t>
            </a:r>
          </a:p>
          <a:p>
            <a:pPr lvl="0"/>
            <a:r>
              <a:rPr lang="es-MX"/>
              <a:t>fecha_hora</a:t>
            </a:r>
          </a:p>
          <a:p>
            <a:pPr lvl="0"/>
            <a:r>
              <a:rPr lang="es-MX"/>
              <a:t>nivel</a:t>
            </a:r>
          </a:p>
          <a:p>
            <a:pPr lvl="0"/>
            <a:r>
              <a:rPr lang="es-MX"/>
              <a:t>estado_alerta</a:t>
            </a:r>
          </a:p>
          <a:p>
            <a:pPr lvl="0"/>
            <a:r>
              <a:rPr lang="es-MX"/>
              <a:t>fuente</a:t>
            </a:r>
          </a:p>
          <a:p>
            <a:r>
              <a:rPr lang="es-MX"/>
              <a:t>Relación:</a:t>
            </a:r>
          </a:p>
          <a:p>
            <a:r>
              <a:rPr lang="es-MX"/>
              <a:t>SISMO (0,N) --- corresponde_a --- ALERTA_SISMICA (1,1)</a:t>
            </a:r>
          </a:p>
          <a:p>
            <a:r>
              <a:rPr lang="es-MX" b="1"/>
              <a:t>Fundamento</a:t>
            </a:r>
          </a:p>
          <a:p>
            <a:r>
              <a:rPr lang="es-MX"/>
              <a:t>El artículo "Cuando México tiembla: la historia contada por los datos" identifica como trabajo futuro la integración con plataformas de alerta temprana. Esta propuesta desarrolla esa idea definiendo una entidad, atributos y relación con los sismos.</a:t>
            </a:r>
          </a:p>
        </p:txBody>
      </p:sp>
    </p:spTree>
    <p:extLst>
      <p:ext uri="{BB962C8B-B14F-4D97-AF65-F5344CB8AC3E}">
        <p14:creationId xmlns:p14="http://schemas.microsoft.com/office/powerpoint/2010/main" val="368822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34D76-8AED-BA6E-5612-8286C85E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3B1BE0-80DD-C550-5175-2401A4A9628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B6A3AC-976A-A54E-5B16-E57CD2009020}"/>
              </a:ext>
            </a:extLst>
          </p:cNvPr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Propuestas de mejora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EA7FD5-4CCE-3B20-EF62-85BD0D1028E8}"/>
              </a:ext>
            </a:extLst>
          </p:cNvPr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Bases de Datos · Práctica 2 · Ejercicio 7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A7D03A-234B-4D74-8038-454B769A6364}"/>
              </a:ext>
            </a:extLst>
          </p:cNvPr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Impacto por municipio: </a:t>
            </a:r>
            <a:r>
              <a:rPr lang="en-US" sz="1500" dirty="0">
                <a:solidFill>
                  <a:srgbClr val="222222"/>
                </a:solidFill>
              </a:rPr>
              <a:t>hoy se calcula por entidad completa, lo que sesga la población afectada.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Placa tectónica: </a:t>
            </a:r>
            <a:r>
              <a:rPr lang="en-US" sz="1500" dirty="0">
                <a:solidFill>
                  <a:srgbClr val="222222"/>
                </a:solidFill>
              </a:rPr>
              <a:t>clasificar cada sismo por placa o zona sismogénica, premisa del artículo que el modelo no representa.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Réplicas: </a:t>
            </a:r>
            <a:r>
              <a:rPr lang="en-US" sz="1500" dirty="0">
                <a:solidFill>
                  <a:srgbClr val="222222"/>
                </a:solidFill>
              </a:rPr>
              <a:t>relacionar sismo principal con sus réplicas para estudiar secuencias.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6B1E3A"/>
                </a:solidFill>
              </a:rPr>
              <a:t>Normalización: </a:t>
            </a:r>
            <a:r>
              <a:rPr lang="en-US" sz="1500" dirty="0">
                <a:solidFill>
                  <a:srgbClr val="222222"/>
                </a:solidFill>
              </a:rPr>
              <a:t>unir dim_zonas y dim_economia (duplican la entidad) y declarar llave primaria en la tabla de hechos.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5567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1E3A"/>
          </a:solidFill>
          <a:ln w="12700">
            <a:solidFill>
              <a:srgbClr val="6B1E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5. Proyecto propio: Sistema de Gestión Deportiva Escolar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Bases de Datos · Práctica 2 · Ejercicio 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Administra deportes, selecciones, entrenadores, estudiantes, actividades y documentos médicos de una institución.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3063240"/>
          </a:xfrm>
          <a:prstGeom prst="rect">
            <a:avLst/>
          </a:prstGeom>
          <a:solidFill>
            <a:srgbClr val="F4ECEF"/>
          </a:solidFill>
          <a:ln w="12700">
            <a:solidFill>
              <a:srgbClr val="F4EC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594360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1E3A"/>
                </a:solidFill>
              </a:rPr>
              <a:t>Conceptos EER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6596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Generalización: PERSONAL_DEPORTIVO → ENTRENADOR / GESTOR_DEPORTIVO, disjunta y total (d, 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Entidades débiles: DOCUMENTO_MEDICO (boleta, número) y ACTIVIDAD_DEPORTIVA (selección, número)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Atributo compuesto: nombre. Multivaluado: especialidades del entrenador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Otras entidades: DEPORTE, SELECCION, ESTUDIANTE, SOLICITUD_JUSTIFICANTE, JUSTIFICANTE, EVALUACION_BECA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063240"/>
          </a:xfrm>
          <a:prstGeom prst="rect">
            <a:avLst/>
          </a:prstGeom>
          <a:solidFill>
            <a:srgbClr val="F4ECEF"/>
          </a:solidFill>
          <a:ln w="12700">
            <a:solidFill>
              <a:srgbClr val="F4EC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4846320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1E3A"/>
                </a:solidFill>
              </a:rPr>
              <a:t>Cardinalidades clave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ENTRENADOR (0,1) dirige (1,1) SELECCION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ESTUDIANTE (0,1) pertenece (0,N) SELECCION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ESTUDIANTE (0,N) presenta (1,1) DOCUMENTO_MEDICO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Solicitud autorizada genera un justificante con fecha y horario de la actividad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La beca solo se evalúa (acreedor o no); el trámite formal es externo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877</Words>
  <Application>Microsoft Office PowerPoint</Application>
  <PresentationFormat>Presentación en pantalla (16:9)</PresentationFormat>
  <Paragraphs>95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Luis Villanueva Morales</cp:lastModifiedBy>
  <cp:revision>2</cp:revision>
  <dcterms:created xsi:type="dcterms:W3CDTF">2026-10-04T05:25:57Z</dcterms:created>
  <dcterms:modified xsi:type="dcterms:W3CDTF">2026-10-04T05:54:51Z</dcterms:modified>
</cp:coreProperties>
</file>